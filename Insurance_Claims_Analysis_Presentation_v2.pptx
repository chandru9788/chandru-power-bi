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Claims</c:v>
          </c:tx>
          <c:dPt>
            <c:idx val="0"/>
            <c:bubble3D val="0"/>
            <c:spPr>
              <a:solidFill>
                <a:srgbClr val="087E8B"/>
              </a:solidFill>
            </c:spPr>
          </c:dPt>
          <c:dPt>
            <c:idx val="1"/>
            <c:bubble3D val="0"/>
            <c:spPr>
              <a:solidFill>
                <a:srgbClr val="D96855"/>
              </a:solidFill>
            </c:spPr>
          </c:dPt>
          <c:dPt>
            <c:idx val="2"/>
            <c:bubble3D val="0"/>
            <c:spPr>
              <a:solidFill>
                <a:srgbClr val="E3A52F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83047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Lit>
              <c:ptCount val="3"/>
              <c:pt idx="0">
                <c:v>Approved</c:v>
              </c:pt>
              <c:pt idx="1">
                <c:v>Denied</c:v>
              </c:pt>
              <c:pt idx="2">
                <c:v>Pending</c:v>
              </c:pt>
            </c:strLit>
          </c:cat>
          <c:val>
            <c:numLit>
              <c:formatCode>General</c:formatCode>
              <c:ptCount val="3"/>
              <c:pt idx="0">
                <c:v>3451</c:v>
              </c:pt>
              <c:pt idx="1">
                <c:v>846</c:v>
              </c:pt>
              <c:pt idx="2">
                <c:v>703</c:v>
              </c:pt>
            </c:numLit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60"/>
      </c:doughnutChart>
      <c:spPr>
        <a:noFill/>
        <a:ln w="0">
          <a:noFill/>
          <a:prstDash val="solid"/>
        </a:ln>
      </c:spPr>
    </c:plotArea>
    <c:legend>
      <c:legendPos val="b"/>
      <c:layout/>
      <c:overlay val="0"/>
      <c:txPr>
        <a:bodyPr anchorCtr="1"/>
        <a:lstStyle/>
        <a:p>
          <a:pPr>
            <a:defRPr sz="1275">
              <a:solidFill>
                <a:srgbClr val="183047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Total claim amount (₹)</c:v>
          </c:tx>
          <c:spPr>
            <a:solidFill>
              <a:srgbClr val="2878B5"/>
            </a:solidFill>
          </c:spPr>
          <c:invertIfNegative val="0"/>
          <c:dLbls>
            <c:numFmt formatCode="\₹#,##0,,&quot;M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4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Lit>
              <c:ptCount val="4"/>
              <c:pt idx="0">
                <c:v>Inpatient</c:v>
              </c:pt>
              <c:pt idx="1">
                <c:v>Emergency</c:v>
              </c:pt>
              <c:pt idx="2">
                <c:v>Outpatient</c:v>
              </c:pt>
              <c:pt idx="3">
                <c:v>Routine</c:v>
              </c:pt>
            </c:strLit>
          </c:cat>
          <c:val>
            <c:numLit>
              <c:formatCode>General</c:formatCode>
              <c:ptCount val="4"/>
              <c:pt idx="0">
                <c:v>112591083</c:v>
              </c:pt>
              <c:pt idx="1">
                <c:v>52812622</c:v>
              </c:pt>
              <c:pt idx="2">
                <c:v>60637484</c:v>
              </c:pt>
              <c:pt idx="3">
                <c:v>15442836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-792996816"/>
        <c:axId val="-792982672"/>
      </c:barChart>
      <c:catAx>
        <c:axId val="-792996816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17487"/>
                </a:solidFill>
              </a:defRPr>
            </a:pPr>
            <a:endParaRPr lang="en-US"/>
          </a:p>
        </c:txPr>
        <c:crossAx val="-792982672"/>
        <c:crosses val="autoZero"/>
        <c:auto val="1"/>
        <c:lblAlgn val="ctr"/>
        <c:lblOffset val="100"/>
        <c:noMultiLvlLbl val="1"/>
      </c:catAx>
      <c:valAx>
        <c:axId val="-792982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83047"/>
                </a:solidFill>
              </a:defRPr>
            </a:pPr>
            <a:endParaRPr lang="en-US"/>
          </a:p>
        </c:txPr>
        <c:crossAx val="-792996816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2024</c:v>
          </c:tx>
          <c:spPr>
            <a:ln w="28575">
              <a:solidFill>
                <a:srgbClr val="617487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617487"/>
              </a:solidFill>
            </c:spPr>
          </c:marker>
          <c:cat>
            <c:strLit>
              <c:ptCount val="8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</c:strLit>
          </c:cat>
          <c:val>
            <c:numLit>
              <c:formatCode>General</c:formatCode>
              <c:ptCount val="8"/>
              <c:pt idx="0">
                <c:v>159</c:v>
              </c:pt>
              <c:pt idx="1">
                <c:v>136</c:v>
              </c:pt>
              <c:pt idx="2">
                <c:v>143</c:v>
              </c:pt>
              <c:pt idx="3">
                <c:v>161</c:v>
              </c:pt>
              <c:pt idx="4">
                <c:v>160</c:v>
              </c:pt>
              <c:pt idx="5">
                <c:v>145</c:v>
              </c:pt>
              <c:pt idx="6">
                <c:v>140</c:v>
              </c:pt>
              <c:pt idx="7">
                <c:v>166</c:v>
              </c:pt>
            </c:numLit>
          </c:val>
          <c:smooth val="0"/>
        </c:ser>
        <c:ser>
          <c:idx val="1"/>
          <c:order val="1"/>
          <c:tx>
            <c:v>2025</c:v>
          </c:tx>
          <c:spPr>
            <a:ln w="28575">
              <a:solidFill>
                <a:srgbClr val="E3A52F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3A52F"/>
              </a:solidFill>
            </c:spPr>
          </c:marker>
          <c:cat>
            <c:strLit>
              <c:ptCount val="8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</c:strLit>
          </c:cat>
          <c:val>
            <c:numLit>
              <c:formatCode>General</c:formatCode>
              <c:ptCount val="8"/>
              <c:pt idx="0">
                <c:v>159</c:v>
              </c:pt>
              <c:pt idx="1">
                <c:v>135</c:v>
              </c:pt>
              <c:pt idx="2">
                <c:v>149</c:v>
              </c:pt>
              <c:pt idx="3">
                <c:v>139</c:v>
              </c:pt>
              <c:pt idx="4">
                <c:v>161</c:v>
              </c:pt>
              <c:pt idx="5">
                <c:v>130</c:v>
              </c:pt>
              <c:pt idx="6">
                <c:v>167</c:v>
              </c:pt>
              <c:pt idx="7">
                <c:v>137</c:v>
              </c:pt>
            </c:numLit>
          </c:val>
          <c:smooth val="0"/>
        </c:ser>
        <c:ser>
          <c:idx val="2"/>
          <c:order val="2"/>
          <c:tx>
            <c:v>2026</c:v>
          </c:tx>
          <c:spPr>
            <a:ln w="38100">
              <a:solidFill>
                <a:srgbClr val="087E8B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87E8B"/>
              </a:solidFill>
            </c:spPr>
          </c:marker>
          <c:cat>
            <c:strLit>
              <c:ptCount val="8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</c:strLit>
          </c:cat>
          <c:val>
            <c:numLit>
              <c:formatCode>General</c:formatCode>
              <c:ptCount val="8"/>
              <c:pt idx="0">
                <c:v>148</c:v>
              </c:pt>
              <c:pt idx="1">
                <c:v>142</c:v>
              </c:pt>
              <c:pt idx="2">
                <c:v>163</c:v>
              </c:pt>
              <c:pt idx="3">
                <c:v>156</c:v>
              </c:pt>
              <c:pt idx="4">
                <c:v>150</c:v>
              </c:pt>
              <c:pt idx="5">
                <c:v>151</c:v>
              </c:pt>
              <c:pt idx="6">
                <c:v>176</c:v>
              </c:pt>
              <c:pt idx="7">
                <c:v>171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792985936"/>
        <c:axId val="-792994096"/>
      </c:lineChart>
      <c:catAx>
        <c:axId val="-792985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17487"/>
                </a:solidFill>
              </a:defRPr>
            </a:pPr>
            <a:endParaRPr lang="en-US"/>
          </a:p>
        </c:txPr>
        <c:crossAx val="-792994096"/>
        <c:crosses val="autoZero"/>
        <c:auto val="1"/>
        <c:lblAlgn val="ctr"/>
        <c:lblOffset val="100"/>
        <c:noMultiLvlLbl val="1"/>
      </c:catAx>
      <c:valAx>
        <c:axId val="-792994096"/>
        <c:scaling>
          <c:orientation val="minMax"/>
          <c:max val="190"/>
          <c:min val="110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17487"/>
                </a:solidFill>
              </a:defRPr>
            </a:pPr>
            <a:endParaRPr lang="en-US"/>
          </a:p>
        </c:txPr>
        <c:crossAx val="-792985936"/>
        <c:crosses val="autoZero"/>
        <c:crossBetween val="between"/>
        <c:majorUnit val="20"/>
      </c:valAx>
      <c:spPr>
        <a:noFill/>
      </c:spPr>
    </c:plotArea>
    <c:legend>
      <c:legendPos val="b"/>
      <c:layout/>
      <c:overlay val="0"/>
      <c:txPr>
        <a:bodyPr anchorCtr="1"/>
        <a:lstStyle/>
        <a:p>
          <a:pPr>
            <a:defRPr sz="1200">
              <a:solidFill>
                <a:srgbClr val="183047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Claims</c:v>
          </c:tx>
          <c:spPr>
            <a:solidFill>
              <a:srgbClr val="087E8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024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Lit>
              <c:ptCount val="10"/>
              <c:pt idx="0">
                <c:v>Star Health</c:v>
              </c:pt>
              <c:pt idx="1">
                <c:v>Tata AIG</c:v>
              </c:pt>
              <c:pt idx="2">
                <c:v>Niva Bupa</c:v>
              </c:pt>
              <c:pt idx="3">
                <c:v>New India Assurance</c:v>
              </c:pt>
              <c:pt idx="4">
                <c:v>Care Health</c:v>
              </c:pt>
              <c:pt idx="5">
                <c:v>Bajaj Allianz</c:v>
              </c:pt>
              <c:pt idx="6">
                <c:v>HDFC ERGO</c:v>
              </c:pt>
              <c:pt idx="7">
                <c:v>ICICI Lombard</c:v>
              </c:pt>
              <c:pt idx="8">
                <c:v>ManipalCigna</c:v>
              </c:pt>
              <c:pt idx="9">
                <c:v>Aditya Birla Health</c:v>
              </c:pt>
            </c:strLit>
          </c:cat>
          <c:val>
            <c:numLit>
              <c:formatCode>General</c:formatCode>
              <c:ptCount val="10"/>
              <c:pt idx="0">
                <c:v>543</c:v>
              </c:pt>
              <c:pt idx="1">
                <c:v>528</c:v>
              </c:pt>
              <c:pt idx="2">
                <c:v>526</c:v>
              </c:pt>
              <c:pt idx="3">
                <c:v>520</c:v>
              </c:pt>
              <c:pt idx="4">
                <c:v>502</c:v>
              </c:pt>
              <c:pt idx="5">
                <c:v>494</c:v>
              </c:pt>
              <c:pt idx="6">
                <c:v>487</c:v>
              </c:pt>
              <c:pt idx="7">
                <c:v>480</c:v>
              </c:pt>
              <c:pt idx="8">
                <c:v>474</c:v>
              </c:pt>
              <c:pt idx="9">
                <c:v>446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792995184"/>
        <c:axId val="-792991376"/>
      </c:barChart>
      <c:catAx>
        <c:axId val="-792995184"/>
        <c:scaling>
          <c:orientation val="minMax"/>
        </c:scaling>
        <c:delete val="0"/>
        <c:axPos val="l"/>
        <c:majorGridlines>
          <c:spPr>
            <a:ln w="9525">
              <a:solidFill>
                <a:srgbClr val="D8DF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8DFE5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17487"/>
                </a:solidFill>
              </a:defRPr>
            </a:pPr>
            <a:endParaRPr lang="en-US"/>
          </a:p>
        </c:txPr>
        <c:crossAx val="-792991376"/>
        <c:crosses val="autoZero"/>
        <c:auto val="1"/>
        <c:lblAlgn val="ctr"/>
        <c:lblOffset val="100"/>
        <c:noMultiLvlLbl val="1"/>
      </c:catAx>
      <c:valAx>
        <c:axId val="-79299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83047"/>
                </a:solidFill>
              </a:defRPr>
            </a:pPr>
            <a:endParaRPr lang="en-US"/>
          </a:p>
        </c:txPr>
        <c:crossAx val="-792995184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3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031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5459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7218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3562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5930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3610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1866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0440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3828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1064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0582CC98-6844-4E9C-A863-6103396D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F40D4AA1-3A53-4E94-ABFE-D4A24C58B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C6FA8EDE-9C21-4C16-930C-67FC0F8D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71729442-50AA-408C-8916-6CF6F56C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1DA9CC9D-01EE-42EE-B500-FE5B3FB58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95E5750B-ED77-49EF-B188-A61915E8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4A492E18-B1AF-418E-8242-A3851A9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BEFBB40E-CD51-4456-B505-FEDA6F3C70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B4D20EBA-9802-4CAC-A075-E280EA77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A2FD9F9E-9DB5-4E51-BF08-18FCAFC74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AD45E81-9C79-40BF-90CE-79ECAF075739}"/>
              </a:ext>
            </a:extLst>
          </p:cNvPr>
          <p:cNvSpPr>
            <a:spLocks noGrp="1"/>
          </p:cNvSpPr>
          <p:nvPr/>
        </p:nvSpPr>
        <p:spPr>
          <a:xfrm>
            <a:off x="742950" y="10287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050" b="1">
                <a:solidFill>
                  <a:srgbClr val="FFFFFF"/>
                </a:solidFill>
              </a:defRPr>
            </a:defPPr>
          </a:lstStyle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INSURANCE CLAIMS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3D68867-1699-4496-839C-6B59EEF8D6C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9BD5D7"/>
                </a:solidFill>
              </a:defRPr>
            </a:defPPr>
          </a:lstStyle>
          <a:p>
            <a:pPr algn="l">
              <a:defRPr sz="2250" b="0">
                <a:solidFill>
                  <a:srgbClr val="9BD5D7"/>
                </a:solidFill>
              </a:defRPr>
            </a:pPr>
            <a:r>
              <a:rPr sz="2250" b="0">
                <a:solidFill>
                  <a:srgbClr val="9BD5D7"/>
                </a:solidFill>
              </a:rPr>
              <a:t>Analysis &amp; Power BI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0A183B9-B07A-4D3E-B0A5-22580B2DFE27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D5E1E8"/>
                </a:solidFill>
              </a:defRPr>
            </a:defPPr>
          </a:lstStyle>
          <a:p>
            <a:pPr algn="l">
              <a:defRPr sz="1650" b="0">
                <a:solidFill>
                  <a:srgbClr val="D5E1E8"/>
                </a:solidFill>
              </a:defRPr>
            </a:pPr>
            <a:r>
              <a:rPr sz="1650" b="0">
                <a:solidFill>
                  <a:srgbClr val="D5E1E8"/>
                </a:solidFill>
              </a:rPr>
              <a:t>Claim outcomes, financial exposure and date trends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7C7A6F2-FE67-4E6E-A968-7A6BCF14D453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FFFF"/>
                </a:solidFill>
              </a:defRPr>
            </a:defPPr>
          </a:lstStyle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5,000 claims  ·  1 Jan 2024–26 Sep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692E56E-A5CA-40F8-89C1-F3827146592A}"/>
              </a:ext>
            </a:extLst>
          </p:cNvPr>
          <p:cNvSpPr>
            <a:spLocks noGrp="1"/>
          </p:cNvSpPr>
          <p:nvPr/>
        </p:nvSpPr>
        <p:spPr>
          <a:xfrm>
            <a:off x="781050" y="5962650"/>
            <a:ext cx="762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9BAFBE"/>
                </a:solidFill>
              </a:defRPr>
            </a:defPPr>
          </a:lstStyle>
          <a:p>
            <a:pPr algn="l">
              <a:defRPr sz="1125" b="0">
                <a:solidFill>
                  <a:srgbClr val="9BAFBE"/>
                </a:solidFill>
              </a:defRPr>
            </a:pPr>
            <a:endParaRPr sz="1125" b="0" dirty="0">
              <a:solidFill>
                <a:srgbClr val="9BAF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42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F4E1DEA-2EBB-4AA4-999E-FCF0CF3E936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237452B-664F-4453-A9A6-9D7801FF5CE6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Insurance claims analysis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D54BA7C-47E0-4D3D-B06F-28B281F76741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A2270F0-13C6-4188-B054-942D1DCEFB7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087E8B"/>
                </a:solidFill>
              </a:defRPr>
            </a:defPPr>
          </a:lstStyle>
          <a:p>
            <a:pPr algn="l"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Project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A3A5763-0DD1-4175-B006-6D6E18A2EAA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9810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0243A"/>
                </a:solidFill>
              </a:defRPr>
            </a:defPPr>
          </a:lstStyle>
          <a:p>
            <a:pPr algn="l"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This project reviews 5,000 insurance claim records to describe claim outcomes, financial exposure, monthly activity and insurer distribution.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093A3A4-BF49-484B-BC7F-26F9BE0AE7D4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183047"/>
                </a:solidFill>
              </a:defRPr>
            </a:defPPr>
          </a:lstStyle>
          <a:p>
            <a:pPr algn="l">
              <a:defRPr sz="1575" b="0">
                <a:solidFill>
                  <a:srgbClr val="183047"/>
                </a:solidFill>
              </a:defRPr>
            </a:pPr>
            <a:r>
              <a:rPr sz="1575" b="0">
                <a:solidFill>
                  <a:srgbClr val="183047"/>
                </a:solidFill>
              </a:rPr>
              <a:t>The report uses the supplied claims dataset and a Power BI date model to explore the records through consistent measures and date filters.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40D4D83-705B-40F2-A2DC-4C10E33833B5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617487"/>
                </a:solidFill>
              </a:defRPr>
            </a:defPPr>
          </a:lstStyle>
          <a:p>
            <a:pPr algn="l">
              <a:defRPr sz="1275" b="1">
                <a:solidFill>
                  <a:srgbClr val="617487"/>
                </a:solidFill>
              </a:defRPr>
            </a:pPr>
            <a:r>
              <a:rPr sz="1275" b="1">
                <a:solidFill>
                  <a:srgbClr val="617487"/>
                </a:solidFill>
              </a:rPr>
              <a:t>Analysis period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987DE13-F6DE-4C08-888E-33E4944B5298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5905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87E8B"/>
                </a:solidFill>
              </a:defRPr>
            </a:defPPr>
          </a:lstStyle>
          <a:p>
            <a:pPr algn="l"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1 Jan 2024 – 26 Sep 2026</a:t>
            </a:r>
          </a:p>
        </p:txBody>
      </p:sp>
    </p:spTree>
    <p:extLst>
      <p:ext uri="{BB962C8B-B14F-4D97-AF65-F5344CB8AC3E}">
        <p14:creationId xmlns:p14="http://schemas.microsoft.com/office/powerpoint/2010/main" val="34399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16EEE73-1A9B-4EBC-81F2-84BD28D4F38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Project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68F9B91-5027-4050-B669-46587C1A7F08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Questions the report is designed to answer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7FD3118-5D9C-4406-AD9C-BDEFC4D556DF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D294D5F-530B-493F-9D35-3C5147963767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87E8B"/>
                </a:solidFill>
              </a:defRPr>
            </a:defPPr>
          </a:lstStyle>
          <a:p>
            <a:pPr algn="l"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3374E45-FDC5-4A61-9CCB-7A68F4E79ECC}"/>
              </a:ext>
            </a:extLst>
          </p:cNvPr>
          <p:cNvSpPr>
            <a:spLocks noGrp="1"/>
          </p:cNvSpPr>
          <p:nvPr/>
        </p:nvSpPr>
        <p:spPr>
          <a:xfrm>
            <a:off x="1524000" y="15430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0243A"/>
                </a:solidFill>
              </a:defRPr>
            </a:defPPr>
          </a:lstStyle>
          <a:p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Measure claim outcomes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AFC2663-A374-499C-B6E4-3FDF1F87725D}"/>
              </a:ext>
            </a:extLst>
          </p:cNvPr>
          <p:cNvSpPr>
            <a:spLocks noGrp="1"/>
          </p:cNvSpPr>
          <p:nvPr/>
        </p:nvSpPr>
        <p:spPr>
          <a:xfrm>
            <a:off x="1524000" y="19526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Count approved, denied and pending claims and compare their share of total claims.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3A4F64C-B604-4750-811A-88F76EC5E55A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87E8B"/>
                </a:solidFill>
              </a:defRPr>
            </a:defPPr>
          </a:lstStyle>
          <a:p>
            <a:pPr algn="l"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8BC8762-9BFC-4EF1-8346-89525ECFA360}"/>
              </a:ext>
            </a:extLst>
          </p:cNvPr>
          <p:cNvSpPr>
            <a:spLocks noGrp="1"/>
          </p:cNvSpPr>
          <p:nvPr/>
        </p:nvSpPr>
        <p:spPr>
          <a:xfrm>
            <a:off x="1524000" y="26098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0243A"/>
                </a:solidFill>
              </a:defRPr>
            </a:defPPr>
          </a:lstStyle>
          <a:p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Describe financial exposure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3CBF439-DD41-42DE-A32D-894A035F2700}"/>
              </a:ext>
            </a:extLst>
          </p:cNvPr>
          <p:cNvSpPr>
            <a:spLocks noGrp="1"/>
          </p:cNvSpPr>
          <p:nvPr/>
        </p:nvSpPr>
        <p:spPr>
          <a:xfrm>
            <a:off x="1524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Summarize total and average claim amounts across claim types and outcomes.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4052069-8E18-41D9-9064-D385FB59EE4A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87E8B"/>
                </a:solidFill>
              </a:defRPr>
            </a:defPPr>
          </a:lstStyle>
          <a:p>
            <a:pPr algn="l"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7748778-EF8F-42E3-9F95-8F6013D43A95}"/>
              </a:ext>
            </a:extLst>
          </p:cNvPr>
          <p:cNvSpPr>
            <a:spLocks noGrp="1"/>
          </p:cNvSpPr>
          <p:nvPr/>
        </p:nvSpPr>
        <p:spPr>
          <a:xfrm>
            <a:off x="1524000" y="36766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0243A"/>
                </a:solidFill>
              </a:defRPr>
            </a:defPPr>
          </a:lstStyle>
          <a:p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Compare activity over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080F4E5-109C-418D-9EA5-2FC602EF1E1C}"/>
              </a:ext>
            </a:extLst>
          </p:cNvPr>
          <p:cNvSpPr>
            <a:spLocks noGrp="1"/>
          </p:cNvSpPr>
          <p:nvPr/>
        </p:nvSpPr>
        <p:spPr>
          <a:xfrm>
            <a:off x="1524000" y="40862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Review monthly claim counts using comparable periods across years.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A2D5CC0-0770-44A0-B24D-368688460190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87E8B"/>
                </a:solidFill>
              </a:defRPr>
            </a:defPPr>
          </a:lstStyle>
          <a:p>
            <a:pPr algn="l"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35E6462-2D3F-493A-BC67-21FDEEBE5C40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0243A"/>
                </a:solidFill>
              </a:defRPr>
            </a:defPPr>
          </a:lstStyle>
          <a:p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Support interactive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82A3516-BE5B-4452-94B2-A5D600A9975C}"/>
              </a:ext>
            </a:extLst>
          </p:cNvPr>
          <p:cNvSpPr>
            <a:spLocks noGrp="1"/>
          </p:cNvSpPr>
          <p:nvPr/>
        </p:nvSpPr>
        <p:spPr>
          <a:xfrm>
            <a:off x="1524000" y="5153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Use the Date table and report filters to explore claims by type, insurer and other fields.</a:t>
            </a:r>
          </a:p>
        </p:txBody>
      </p:sp>
    </p:spTree>
    <p:extLst>
      <p:ext uri="{BB962C8B-B14F-4D97-AF65-F5344CB8AC3E}">
        <p14:creationId xmlns:p14="http://schemas.microsoft.com/office/powerpoint/2010/main" val="186344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8B61181-FF00-454A-B658-D396B6CE2C2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Project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FD32BF1-8466-47A4-AC9C-6D5529CE0F67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Dataset scope, measures and report views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5810CD9-99B9-4F09-85B1-D05ED8E48532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1A92D6D-3AC2-466F-9E42-A3B8ED3D2ED6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087E8B"/>
                </a:solidFill>
              </a:defRPr>
            </a:defPPr>
          </a:lstStyle>
          <a:p>
            <a:pPr algn="l"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59C6B59-5732-4D9C-B65F-6C5530BDB627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0243A"/>
                </a:solidFill>
              </a:defRPr>
            </a:defPPr>
          </a:lstStyle>
          <a:p>
            <a:pPr algn="l">
              <a:defRPr sz="3150" b="1">
                <a:solidFill>
                  <a:srgbClr val="10243A"/>
                </a:solidFill>
              </a:defRPr>
            </a:pPr>
            <a:r>
              <a:rPr sz="3150" b="1">
                <a:solidFill>
                  <a:srgbClr val="10243A"/>
                </a:solidFill>
              </a:rPr>
              <a:t>5,000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6299FAC-0F9A-4618-95D3-E9B8F750F4B9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claim records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30EC969-BE55-42CF-A3EE-99FBF8EEE52D}"/>
              </a:ext>
            </a:extLst>
          </p:cNvPr>
          <p:cNvSpPr>
            <a:spLocks noGrp="1"/>
          </p:cNvSpPr>
          <p:nvPr/>
        </p:nvSpPr>
        <p:spPr>
          <a:xfrm>
            <a:off x="3390900" y="1952625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0243A"/>
                </a:solidFill>
              </a:defRPr>
            </a:defPPr>
          </a:lstStyle>
          <a:p>
            <a:pPr algn="l">
              <a:defRPr sz="3150" b="1">
                <a:solidFill>
                  <a:srgbClr val="10243A"/>
                </a:solidFill>
              </a:defRPr>
            </a:pPr>
            <a:r>
              <a:rPr sz="3150" b="1">
                <a:solidFill>
                  <a:srgbClr val="10243A"/>
                </a:solidFill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F596847-7AC1-438D-8075-87A14EFCC1CF}"/>
              </a:ext>
            </a:extLst>
          </p:cNvPr>
          <p:cNvSpPr>
            <a:spLocks noGrp="1"/>
          </p:cNvSpPr>
          <p:nvPr/>
        </p:nvSpPr>
        <p:spPr>
          <a:xfrm>
            <a:off x="3419475" y="24669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fields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41A731D-3B63-462D-A49A-851AED25FEEB}"/>
              </a:ext>
            </a:extLst>
          </p:cNvPr>
          <p:cNvSpPr>
            <a:spLocks noGrp="1"/>
          </p:cNvSpPr>
          <p:nvPr/>
        </p:nvSpPr>
        <p:spPr>
          <a:xfrm>
            <a:off x="5219700" y="1952625"/>
            <a:ext cx="123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0243A"/>
                </a:solidFill>
              </a:defRPr>
            </a:defPPr>
          </a:lstStyle>
          <a:p>
            <a:pPr algn="l">
              <a:defRPr sz="3150" b="1">
                <a:solidFill>
                  <a:srgbClr val="10243A"/>
                </a:solidFill>
              </a:defRPr>
            </a:pPr>
            <a:r>
              <a:rPr sz="3150" b="1">
                <a:solidFill>
                  <a:srgbClr val="10243A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6EF51E1-9DA9-4111-A6FA-CD101B993F6D}"/>
              </a:ext>
            </a:extLst>
          </p:cNvPr>
          <p:cNvSpPr>
            <a:spLocks noGrp="1"/>
          </p:cNvSpPr>
          <p:nvPr/>
        </p:nvSpPr>
        <p:spPr>
          <a:xfrm>
            <a:off x="5248275" y="24669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claim statuses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A29CE7E-E2C5-4CB7-993C-F9DB6A50FA23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087E8B"/>
                </a:solidFill>
              </a:defRPr>
            </a:defPPr>
          </a:lstStyle>
          <a:p>
            <a:pPr algn="l"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CORE DIMENSIONS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3B65454-8C8B-4730-8B6B-7156F00F74C3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009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183047"/>
                </a:solidFill>
              </a:defRPr>
            </a:defPPr>
          </a:lstStyle>
          <a:p>
            <a:pPr algn="l">
              <a:defRPr sz="1650" b="0">
                <a:solidFill>
                  <a:srgbClr val="183047"/>
                </a:solidFill>
              </a:defRPr>
            </a:pPr>
            <a:r>
              <a:rPr sz="1650" b="0">
                <a:solidFill>
                  <a:srgbClr val="183047"/>
                </a:solidFill>
              </a:rPr>
              <a:t>Claim date · status · type · insurer · amount · patient age · provider specialty · submission method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AACEBBE-5EC3-4737-9CDA-B1B1ADF34BC5}"/>
              </a:ext>
            </a:extLst>
          </p:cNvPr>
          <p:cNvSpPr>
            <a:spLocks noGrp="1"/>
          </p:cNvSpPr>
          <p:nvPr/>
        </p:nvSpPr>
        <p:spPr>
          <a:xfrm>
            <a:off x="781050" y="47720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087E8B"/>
                </a:solidFill>
              </a:defRPr>
            </a:defPPr>
          </a:lstStyle>
          <a:p>
            <a:pPr algn="l">
              <a:defRPr sz="1200" b="1">
                <a:solidFill>
                  <a:srgbClr val="087E8B"/>
                </a:solidFill>
              </a:defRPr>
            </a:pPr>
            <a:r>
              <a:rPr sz="1200" b="1">
                <a:solidFill>
                  <a:srgbClr val="087E8B"/>
                </a:solidFill>
              </a:rPr>
              <a:t>REPORT VIEWS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AC8FD4D-77FA-49DB-ACEF-18FECD4A0240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83047"/>
                </a:solidFill>
              </a:defRPr>
            </a:defPPr>
          </a:lstStyle>
          <a:p>
            <a:pPr algn="l">
              <a:defRPr sz="1500" b="0">
                <a:solidFill>
                  <a:srgbClr val="183047"/>
                </a:solidFill>
              </a:defRPr>
            </a:pPr>
            <a:r>
              <a:rPr sz="1500" b="0">
                <a:solidFill>
                  <a:srgbClr val="183047"/>
                </a:solidFill>
              </a:rPr>
              <a:t>Outcome mix · claim amount by type · monthly volume · claims by insurer · DAX measures</a:t>
            </a:r>
          </a:p>
        </p:txBody>
      </p:sp>
    </p:spTree>
    <p:extLst>
      <p:ext uri="{BB962C8B-B14F-4D97-AF65-F5344CB8AC3E}">
        <p14:creationId xmlns:p14="http://schemas.microsoft.com/office/powerpoint/2010/main" val="123678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8FA3B2F-1869-4922-8DA8-B7E5B6EE347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Claims portfolio at a glance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FFFB775-1CB6-4AE9-A38B-A32BED69F980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A 5,000-claim dataset with three recorded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42A5EE6-E8D7-4AEA-9943-B79206532252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5415538-F7DC-47D9-B337-F03711ADBF0C}"/>
              </a:ext>
            </a:extLst>
          </p:cNvPr>
          <p:cNvSpPr>
            <a:spLocks noGrp="1"/>
          </p:cNvSpPr>
          <p:nvPr/>
        </p:nvSpPr>
        <p:spPr>
          <a:xfrm>
            <a:off x="742950" y="1704975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4350" b="1">
                <a:solidFill>
                  <a:srgbClr val="10243A"/>
                </a:solidFill>
              </a:defRPr>
            </a:defPPr>
          </a:lstStyle>
          <a:p>
            <a:pPr algn="l">
              <a:defRPr sz="4350" b="1">
                <a:solidFill>
                  <a:srgbClr val="10243A"/>
                </a:solidFill>
              </a:defRPr>
            </a:pPr>
            <a:r>
              <a:rPr sz="4350" b="1">
                <a:solidFill>
                  <a:srgbClr val="10243A"/>
                </a:solidFill>
              </a:rPr>
              <a:t>5,000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02AEB4C-4512-4B73-980B-50EE0C627D87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617487"/>
                </a:solidFill>
              </a:defRPr>
            </a:defPPr>
          </a:lstStyle>
          <a:p>
            <a:pPr algn="l">
              <a:defRPr sz="1575" b="0">
                <a:solidFill>
                  <a:srgbClr val="617487"/>
                </a:solidFill>
              </a:defRPr>
            </a:pPr>
            <a:r>
              <a:rPr sz="1575" b="0">
                <a:solidFill>
                  <a:srgbClr val="617487"/>
                </a:solidFill>
              </a:rPr>
              <a:t>claims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9561043-BC4B-4616-B445-1B2F4C22B2BC}"/>
              </a:ext>
            </a:extLst>
          </p:cNvPr>
          <p:cNvSpPr>
            <a:spLocks noGrp="1"/>
          </p:cNvSpPr>
          <p:nvPr/>
        </p:nvSpPr>
        <p:spPr>
          <a:xfrm>
            <a:off x="742950" y="3209925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087E8B"/>
                </a:solidFill>
              </a:defRPr>
            </a:defPPr>
          </a:lstStyle>
          <a:p>
            <a:pPr algn="l">
              <a:defRPr sz="3600" b="1">
                <a:solidFill>
                  <a:srgbClr val="087E8B"/>
                </a:solidFill>
              </a:defRPr>
            </a:pPr>
            <a:r>
              <a:rPr sz="3600" b="1">
                <a:solidFill>
                  <a:srgbClr val="087E8B"/>
                </a:solidFill>
              </a:rPr>
              <a:t>₹241.48M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B0F98F7-7517-49F2-9F50-06B1296BA6C5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617487"/>
                </a:solidFill>
              </a:defRPr>
            </a:defPPr>
          </a:lstStyle>
          <a:p>
            <a:pPr algn="l">
              <a:defRPr sz="1500" b="0">
                <a:solidFill>
                  <a:srgbClr val="617487"/>
                </a:solidFill>
              </a:defRPr>
            </a:pPr>
            <a:r>
              <a:rPr sz="1500" b="0">
                <a:solidFill>
                  <a:srgbClr val="617487"/>
                </a:solidFill>
              </a:rPr>
              <a:t>total claim amount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A8C7289-CDF8-47A8-8600-72841774E5DA}"/>
              </a:ext>
            </a:extLst>
          </p:cNvPr>
          <p:cNvSpPr>
            <a:spLocks noGrp="1"/>
          </p:cNvSpPr>
          <p:nvPr/>
        </p:nvSpPr>
        <p:spPr>
          <a:xfrm>
            <a:off x="742950" y="4619625"/>
            <a:ext cx="333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925" b="1">
                <a:solidFill>
                  <a:srgbClr val="10243A"/>
                </a:solidFill>
              </a:defRPr>
            </a:defPPr>
          </a:lstStyle>
          <a:p>
            <a:pPr algn="l">
              <a:defRPr sz="2925" b="1">
                <a:solidFill>
                  <a:srgbClr val="10243A"/>
                </a:solidFill>
              </a:defRPr>
            </a:pPr>
            <a:r>
              <a:rPr sz="2925" b="1">
                <a:solidFill>
                  <a:srgbClr val="10243A"/>
                </a:solidFill>
              </a:rPr>
              <a:t>₹48,297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812D6F9-14B7-49E5-95E2-92A5D49D66F6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average claim amount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xmlns="" id="{F249667E-CA63-4713-B8A4-AC68BEDC29E9}"/>
              </a:ext>
            </a:extLst>
          </p:cNvPr>
          <p:cNvGraphicFramePr/>
          <p:nvPr/>
        </p:nvGraphicFramePr>
        <p:xfrm>
          <a:off x="5429250" y="1476375"/>
          <a:ext cx="5476875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A40112D-9FC9-4760-B053-AA6F2EF67E85}"/>
              </a:ext>
            </a:extLst>
          </p:cNvPr>
          <p:cNvSpPr>
            <a:spLocks noGrp="1"/>
          </p:cNvSpPr>
          <p:nvPr/>
        </p:nvSpPr>
        <p:spPr>
          <a:xfrm>
            <a:off x="5715000" y="56102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087E8B"/>
                </a:solidFill>
              </a:defRPr>
            </a:defPPr>
          </a:lstStyle>
          <a:p>
            <a:pPr algn="ctr">
              <a:defRPr sz="1800" b="1">
                <a:solidFill>
                  <a:srgbClr val="087E8B"/>
                </a:solidFill>
              </a:defRPr>
            </a:pPr>
            <a:r>
              <a:rPr sz="1800" b="1">
                <a:solidFill>
                  <a:srgbClr val="087E8B"/>
                </a:solidFill>
              </a:rPr>
              <a:t>69.0% approved</a:t>
            </a:r>
          </a:p>
        </p:txBody>
      </p:sp>
    </p:spTree>
    <p:extLst>
      <p:ext uri="{BB962C8B-B14F-4D97-AF65-F5344CB8AC3E}">
        <p14:creationId xmlns:p14="http://schemas.microsoft.com/office/powerpoint/2010/main" val="181302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466E532-4652-4EEA-8DCB-6B07E50CB8E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Inpatient claims drive the largest amount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4D8764D-EF30-4F13-9751-4514B80F4E61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Claim count and claim value tell different stories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3707221-7C44-4A0E-8E9E-828C1332AEDD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06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xmlns="" id="{181BF8A1-4EB4-40A8-9D8E-EB0A7D66880A}"/>
              </a:ext>
            </a:extLst>
          </p:cNvPr>
          <p:cNvGraphicFramePr/>
          <p:nvPr/>
        </p:nvGraphicFramePr>
        <p:xfrm>
          <a:off x="876300" y="1590675"/>
          <a:ext cx="64770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1E8A98F-35DA-4711-B9E2-50994D92E5FF}"/>
              </a:ext>
            </a:extLst>
          </p:cNvPr>
          <p:cNvSpPr>
            <a:spLocks noGrp="1"/>
          </p:cNvSpPr>
          <p:nvPr/>
        </p:nvSpPr>
        <p:spPr>
          <a:xfrm>
            <a:off x="8172450" y="1838325"/>
            <a:ext cx="2714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10243A"/>
                </a:solidFill>
              </a:defRPr>
            </a:defPPr>
          </a:lstStyle>
          <a:p>
            <a:pPr algn="l">
              <a:defRPr sz="3600" b="1">
                <a:solidFill>
                  <a:srgbClr val="10243A"/>
                </a:solidFill>
              </a:defRPr>
            </a:pPr>
            <a:r>
              <a:rPr sz="3600" b="1">
                <a:solidFill>
                  <a:srgbClr val="10243A"/>
                </a:solidFill>
              </a:rPr>
              <a:t>19.7%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F68A7BC-6A5D-4B6B-AD3F-09A99843DDC7}"/>
              </a:ext>
            </a:extLst>
          </p:cNvPr>
          <p:cNvSpPr>
            <a:spLocks noGrp="1"/>
          </p:cNvSpPr>
          <p:nvPr/>
        </p:nvSpPr>
        <p:spPr>
          <a:xfrm>
            <a:off x="8210550" y="238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of claim count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818BB24-FDC1-46A7-A2F7-1ED72873D6C5}"/>
              </a:ext>
            </a:extLst>
          </p:cNvPr>
          <p:cNvSpPr>
            <a:spLocks noGrp="1"/>
          </p:cNvSpPr>
          <p:nvPr/>
        </p:nvSpPr>
        <p:spPr>
          <a:xfrm>
            <a:off x="8172450" y="3067050"/>
            <a:ext cx="2714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087E8B"/>
                </a:solidFill>
              </a:defRPr>
            </a:defPPr>
          </a:lstStyle>
          <a:p>
            <a:pPr algn="l">
              <a:defRPr sz="3600" b="1">
                <a:solidFill>
                  <a:srgbClr val="087E8B"/>
                </a:solidFill>
              </a:defRPr>
            </a:pPr>
            <a:r>
              <a:rPr sz="3600" b="1">
                <a:solidFill>
                  <a:srgbClr val="087E8B"/>
                </a:solidFill>
              </a:rPr>
              <a:t>46.6%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B3A9C80-703F-425B-89AF-BE645CFA070B}"/>
              </a:ext>
            </a:extLst>
          </p:cNvPr>
          <p:cNvSpPr>
            <a:spLocks noGrp="1"/>
          </p:cNvSpPr>
          <p:nvPr/>
        </p:nvSpPr>
        <p:spPr>
          <a:xfrm>
            <a:off x="8210550" y="36099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of total claim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4288770-7539-4C17-91CD-D27EE2A63278}"/>
              </a:ext>
            </a:extLst>
          </p:cNvPr>
          <p:cNvSpPr>
            <a:spLocks noGrp="1"/>
          </p:cNvSpPr>
          <p:nvPr/>
        </p:nvSpPr>
        <p:spPr>
          <a:xfrm>
            <a:off x="8172450" y="43529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10243A"/>
                </a:solidFill>
              </a:defRPr>
            </a:defPPr>
          </a:lstStyle>
          <a:p>
            <a:pPr algn="l">
              <a:defRPr sz="2850" b="1">
                <a:solidFill>
                  <a:srgbClr val="10243A"/>
                </a:solidFill>
              </a:defRPr>
            </a:pPr>
            <a:r>
              <a:rPr sz="2850" b="1">
                <a:solidFill>
                  <a:srgbClr val="10243A"/>
                </a:solidFill>
              </a:rPr>
              <a:t>₹114,074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ED9C387-0A72-4BB5-A4C3-A5C968A280F6}"/>
              </a:ext>
            </a:extLst>
          </p:cNvPr>
          <p:cNvSpPr>
            <a:spLocks noGrp="1"/>
          </p:cNvSpPr>
          <p:nvPr/>
        </p:nvSpPr>
        <p:spPr>
          <a:xfrm>
            <a:off x="8210550" y="4886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average inpatient claim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342CA69-F023-4032-80DD-067B4938F60F}"/>
              </a:ext>
            </a:extLst>
          </p:cNvPr>
          <p:cNvSpPr>
            <a:spLocks noGrp="1"/>
          </p:cNvSpPr>
          <p:nvPr/>
        </p:nvSpPr>
        <p:spPr>
          <a:xfrm>
            <a:off x="8172450" y="54864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617487"/>
                </a:solidFill>
              </a:defRPr>
            </a:defPPr>
          </a:lstStyle>
          <a:p>
            <a:pPr algn="l">
              <a:defRPr sz="1275" b="0">
                <a:solidFill>
                  <a:srgbClr val="617487"/>
                </a:solidFill>
              </a:defRPr>
            </a:pPr>
            <a:r>
              <a:rPr sz="1275" b="0">
                <a:solidFill>
                  <a:srgbClr val="617487"/>
                </a:solidFill>
              </a:rPr>
              <a:t>Overall average: ₹48,297</a:t>
            </a:r>
          </a:p>
        </p:txBody>
      </p:sp>
    </p:spTree>
    <p:extLst>
      <p:ext uri="{BB962C8B-B14F-4D97-AF65-F5344CB8AC3E}">
        <p14:creationId xmlns:p14="http://schemas.microsoft.com/office/powerpoint/2010/main" val="156825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974422-9C79-4CAF-9F0C-1A3D62164B5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Monthly claim volumes are higher in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A8122CF-A68E-4E26-A6E1-DFEDBE547804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Jan–Aug comparison keeps the period consistent across years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282C714-0FD8-46C9-9CB1-ABECD1A2ED40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07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xmlns="" id="{18079794-542E-4E10-943F-5930C2DC1F8C}"/>
              </a:ext>
            </a:extLst>
          </p:cNvPr>
          <p:cNvGraphicFramePr/>
          <p:nvPr/>
        </p:nvGraphicFramePr>
        <p:xfrm>
          <a:off x="876300" y="1524000"/>
          <a:ext cx="10287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86AC87F-2CC8-4CB3-9AE4-F32856E61DE3}"/>
              </a:ext>
            </a:extLst>
          </p:cNvPr>
          <p:cNvSpPr>
            <a:spLocks noGrp="1"/>
          </p:cNvSpPr>
          <p:nvPr/>
        </p:nvSpPr>
        <p:spPr>
          <a:xfrm>
            <a:off x="904875" y="5762625"/>
            <a:ext cx="128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87E8B"/>
                </a:solidFill>
              </a:defRPr>
            </a:defPPr>
          </a:lstStyle>
          <a:p>
            <a:pPr algn="l">
              <a:defRPr sz="2100" b="1">
                <a:solidFill>
                  <a:srgbClr val="087E8B"/>
                </a:solidFill>
              </a:defRPr>
            </a:pPr>
            <a:r>
              <a:rPr sz="2100" b="1">
                <a:solidFill>
                  <a:srgbClr val="087E8B"/>
                </a:solidFill>
              </a:rPr>
              <a:t>157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825F5AE-D77A-438A-816D-7AD0F61F6E08}"/>
              </a:ext>
            </a:extLst>
          </p:cNvPr>
          <p:cNvSpPr>
            <a:spLocks noGrp="1"/>
          </p:cNvSpPr>
          <p:nvPr/>
        </p:nvSpPr>
        <p:spPr>
          <a:xfrm>
            <a:off x="2057400" y="57721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average claims per month in Jan–Aug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FAAD034-B771-4716-BAC6-43007FA590C0}"/>
              </a:ext>
            </a:extLst>
          </p:cNvPr>
          <p:cNvSpPr>
            <a:spLocks noGrp="1"/>
          </p:cNvSpPr>
          <p:nvPr/>
        </p:nvSpPr>
        <p:spPr>
          <a:xfrm>
            <a:off x="7200900" y="57721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350" b="0">
                <a:solidFill>
                  <a:srgbClr val="617487"/>
                </a:solidFill>
              </a:defRPr>
            </a:defPPr>
          </a:lstStyle>
          <a:p>
            <a:pPr algn="r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vs 147 in Jan–Aug 2025 (+6.8%)</a:t>
            </a:r>
          </a:p>
        </p:txBody>
      </p:sp>
    </p:spTree>
    <p:extLst>
      <p:ext uri="{BB962C8B-B14F-4D97-AF65-F5344CB8AC3E}">
        <p14:creationId xmlns:p14="http://schemas.microsoft.com/office/powerpoint/2010/main" val="1872675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904C949-21CE-4C83-9BBD-8FFC6239B7A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Claim volume is distributed across 10 insurers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796E5C2-265F-4A16-9F7E-7A5EDCF12258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Each insurer accounts for 8.9%–10.9% of claims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BF91FEF-64A1-450A-8166-DA41FB095F87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08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xmlns="" id="{64349D2A-8347-442C-BBE6-30670D68D17F}"/>
              </a:ext>
            </a:extLst>
          </p:cNvPr>
          <p:cNvGraphicFramePr/>
          <p:nvPr/>
        </p:nvGraphicFramePr>
        <p:xfrm>
          <a:off x="1000125" y="1400175"/>
          <a:ext cx="10048875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4B366-BA95-4FCB-BA42-4B5785FC2872}"/>
              </a:ext>
            </a:extLst>
          </p:cNvPr>
          <p:cNvSpPr>
            <a:spLocks noGrp="1"/>
          </p:cNvSpPr>
          <p:nvPr/>
        </p:nvSpPr>
        <p:spPr>
          <a:xfrm>
            <a:off x="1028700" y="5972175"/>
            <a:ext cx="457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183047"/>
                </a:solidFill>
              </a:defRPr>
            </a:defPPr>
          </a:lstStyle>
          <a:p>
            <a:pPr algn="l">
              <a:defRPr sz="1275" b="1">
                <a:solidFill>
                  <a:srgbClr val="183047"/>
                </a:solidFill>
              </a:defRPr>
            </a:pPr>
            <a:r>
              <a:rPr sz="1275" b="1">
                <a:solidFill>
                  <a:srgbClr val="183047"/>
                </a:solidFill>
              </a:rPr>
              <a:t>Highest: Star Health · 543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154942A-692C-4CAD-BB7A-CEAE5CFCABDC}"/>
              </a:ext>
            </a:extLst>
          </p:cNvPr>
          <p:cNvSpPr>
            <a:spLocks noGrp="1"/>
          </p:cNvSpPr>
          <p:nvPr/>
        </p:nvSpPr>
        <p:spPr>
          <a:xfrm>
            <a:off x="6019800" y="5972175"/>
            <a:ext cx="490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617487"/>
                </a:solidFill>
              </a:defRPr>
            </a:defPPr>
          </a:lstStyle>
          <a:p>
            <a:pPr algn="r">
              <a:defRPr sz="1275" b="0">
                <a:solidFill>
                  <a:srgbClr val="617487"/>
                </a:solidFill>
              </a:defRPr>
            </a:pPr>
            <a:r>
              <a:rPr sz="1275" b="0">
                <a:solidFill>
                  <a:srgbClr val="617487"/>
                </a:solidFill>
              </a:rPr>
              <a:t>Lowest: Aditya Birla Health · 446</a:t>
            </a:r>
          </a:p>
        </p:txBody>
      </p:sp>
    </p:spTree>
    <p:extLst>
      <p:ext uri="{BB962C8B-B14F-4D97-AF65-F5344CB8AC3E}">
        <p14:creationId xmlns:p14="http://schemas.microsoft.com/office/powerpoint/2010/main" val="167336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85ECE4F-6ACE-4C34-9FBD-12C74A7CBB2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Power BI measures for the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0081497-9DBE-4FFE-B551-B118360127D3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Use the Date table for time filtering and the claims table for totals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3DDC6E9-A5BD-4DE5-A9AD-9FC531F8A1AD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>
                <a:solidFill>
                  <a:srgbClr val="617487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4ADDB0A-6B45-4D7B-B77C-0257E02F60CC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087E8B"/>
                </a:solidFill>
              </a:defRPr>
            </a:defPPr>
          </a:lstStyle>
          <a:p>
            <a:pPr algn="l"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Core measures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CF1770A-D83F-4B78-AA68-58C823E76F14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6477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425" b="0">
                <a:solidFill>
                  <a:srgbClr val="183047"/>
                </a:solidFill>
              </a:defRPr>
            </a:defPPr>
          </a:lstStyle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Total Claims = COUNTROWS ( 'insurance_claims_live_refresh_dataset-5' )</a:t>
            </a:r>
          </a:p>
          <a:p>
            <a:endParaRPr sz="1425" b="0">
              <a:solidFill>
                <a:srgbClr val="183047"/>
              </a:solidFill>
            </a:endParaRP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Approved Claims =</a:t>
            </a: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CALCULATE ( [Total Claims],</a:t>
            </a: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    'insurance_claims_live_refresh_dataset-5'[Claim_Status] = "Approved"</a:t>
            </a: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)</a:t>
            </a:r>
          </a:p>
          <a:p>
            <a:endParaRPr sz="1425" b="0">
              <a:solidFill>
                <a:srgbClr val="183047"/>
              </a:solidFill>
            </a:endParaRP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Approval Percentage =</a:t>
            </a:r>
          </a:p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DIVIDE ( [Approved Claims], [Total Claims], 0 )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F163A14-C5C6-4729-9030-989F839272B3}"/>
              </a:ext>
            </a:extLst>
          </p:cNvPr>
          <p:cNvSpPr>
            <a:spLocks noGrp="1"/>
          </p:cNvSpPr>
          <p:nvPr/>
        </p:nvSpPr>
        <p:spPr>
          <a:xfrm>
            <a:off x="7810500" y="15430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087E8B"/>
                </a:solidFill>
              </a:defRPr>
            </a:defPPr>
          </a:lstStyle>
          <a:p>
            <a:pPr algn="l"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Model 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5B37508-AAE3-457F-B963-80302626F074}"/>
              </a:ext>
            </a:extLst>
          </p:cNvPr>
          <p:cNvSpPr>
            <a:spLocks noGrp="1"/>
          </p:cNvSpPr>
          <p:nvPr/>
        </p:nvSpPr>
        <p:spPr>
          <a:xfrm>
            <a:off x="7810500" y="2095500"/>
            <a:ext cx="333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0243A"/>
                </a:solidFill>
              </a:defRPr>
            </a:defPPr>
          </a:lstStyle>
          <a:p>
            <a:pPr algn="l">
              <a:defRPr sz="1575" b="1">
                <a:solidFill>
                  <a:srgbClr val="10243A"/>
                </a:solidFill>
              </a:defRPr>
            </a:pPr>
            <a:r>
              <a:rPr sz="1575" b="1">
                <a:solidFill>
                  <a:srgbClr val="10243A"/>
                </a:solidFill>
              </a:rPr>
              <a:t>Date[Date]  →  Claims[Claim_Date]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328A6C1-9934-43BD-98FD-ECA3D71F7E2D}"/>
              </a:ext>
            </a:extLst>
          </p:cNvPr>
          <p:cNvSpPr>
            <a:spLocks noGrp="1"/>
          </p:cNvSpPr>
          <p:nvPr/>
        </p:nvSpPr>
        <p:spPr>
          <a:xfrm>
            <a:off x="7810500" y="2667000"/>
            <a:ext cx="323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183047"/>
                </a:solidFill>
              </a:defRPr>
            </a:defPPr>
          </a:lstStyle>
          <a:p>
            <a:pPr algn="l">
              <a:defRPr sz="1350" b="0">
                <a:solidFill>
                  <a:srgbClr val="183047"/>
                </a:solidFill>
              </a:defRPr>
            </a:pPr>
            <a:r>
              <a:rPr sz="1350" b="0">
                <a:solidFill>
                  <a:srgbClr val="183047"/>
                </a:solidFill>
              </a:rPr>
              <a:t>Mark Date[Date] as the date column. Use it for slicers and the monthly trend.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B09C2C4-FDDD-4CD8-8DF1-EE95BBD33425}"/>
              </a:ext>
            </a:extLst>
          </p:cNvPr>
          <p:cNvSpPr>
            <a:spLocks noGrp="1"/>
          </p:cNvSpPr>
          <p:nvPr/>
        </p:nvSpPr>
        <p:spPr>
          <a:xfrm>
            <a:off x="7810500" y="3876675"/>
            <a:ext cx="3238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617487"/>
                </a:solidFill>
              </a:defRPr>
            </a:defPPr>
          </a:lstStyle>
          <a:p>
            <a:pPr algn="l">
              <a:defRPr sz="1275" b="0">
                <a:solidFill>
                  <a:srgbClr val="617487"/>
                </a:solidFill>
              </a:defRPr>
            </a:pPr>
            <a:r>
              <a:rPr sz="1275" b="0">
                <a:solidFill>
                  <a:srgbClr val="617487"/>
                </a:solidFill>
              </a:rPr>
              <a:t>Format Approval Percentage as Percentage in Power BI. Do not multiply by 100 when using Percentage formatting.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A833025-1C21-464A-912E-D107F2EC3830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0">
                <a:solidFill>
                  <a:srgbClr val="183047"/>
                </a:solidFill>
              </a:defRPr>
            </a:defPPr>
          </a:lstStyle>
          <a:p>
            <a:pPr algn="l">
              <a:defRPr sz="1425" b="0">
                <a:solidFill>
                  <a:srgbClr val="183047"/>
                </a:solidFill>
              </a:defRPr>
            </a:pPr>
            <a:r>
              <a:rPr sz="1425" b="0">
                <a:solidFill>
                  <a:srgbClr val="183047"/>
                </a:solidFill>
              </a:rPr>
              <a:t>Also add Denied Claims, Pending Claims and Total Claim Amount measures for outcome and value visuals.</a:t>
            </a:r>
          </a:p>
        </p:txBody>
      </p:sp>
    </p:spTree>
    <p:extLst>
      <p:ext uri="{BB962C8B-B14F-4D97-AF65-F5344CB8AC3E}">
        <p14:creationId xmlns:p14="http://schemas.microsoft.com/office/powerpoint/2010/main" val="50920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9F8D3F7-D199-4278-8542-029026E6D84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10243A"/>
                </a:solidFill>
              </a:defRPr>
            </a:defPPr>
          </a:lstStyle>
          <a:p>
            <a:pPr algn="l">
              <a:defRPr sz="2625" b="1">
                <a:solidFill>
                  <a:srgbClr val="10243A"/>
                </a:solidFill>
              </a:defRPr>
            </a:pPr>
            <a:r>
              <a:rPr sz="2625" b="1">
                <a:solidFill>
                  <a:srgbClr val="10243A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61064D1-6381-4B89-A6FF-2A649B817DC9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17487"/>
                </a:solidFill>
              </a:defRPr>
            </a:defPPr>
          </a:lstStyle>
          <a:p>
            <a:pPr algn="l">
              <a:defRPr sz="1350" b="0">
                <a:solidFill>
                  <a:srgbClr val="617487"/>
                </a:solidFill>
              </a:defRPr>
            </a:pPr>
            <a:r>
              <a:rPr sz="1350" b="0">
                <a:solidFill>
                  <a:srgbClr val="617487"/>
                </a:solidFill>
              </a:rPr>
              <a:t>Summary of the insurance claims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FF41569-614B-4C9E-918F-C92D8B860C3D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75" b="1">
                <a:solidFill>
                  <a:srgbClr val="617487"/>
                </a:solidFill>
              </a:defRPr>
            </a:defPPr>
          </a:lstStyle>
          <a:p>
            <a:pPr algn="r">
              <a:defRPr sz="975" b="1">
                <a:solidFill>
                  <a:srgbClr val="617487"/>
                </a:solidFill>
              </a:defRPr>
            </a:pPr>
            <a:r>
              <a:rPr sz="975" b="1" dirty="0" smtClean="0">
                <a:solidFill>
                  <a:srgbClr val="617487"/>
                </a:solidFill>
              </a:rPr>
              <a:t>1</a:t>
            </a:r>
            <a:r>
              <a:rPr lang="en-US" sz="975" b="1" dirty="0" smtClean="0">
                <a:solidFill>
                  <a:srgbClr val="617487"/>
                </a:solidFill>
              </a:rPr>
              <a:t>0</a:t>
            </a:r>
          </a:p>
          <a:p>
            <a:pPr algn="r">
              <a:defRPr sz="975" b="1">
                <a:solidFill>
                  <a:srgbClr val="617487"/>
                </a:solidFill>
              </a:defRPr>
            </a:pPr>
            <a:endParaRPr sz="975" b="1" dirty="0">
              <a:solidFill>
                <a:srgbClr val="61748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B3ED13C-C44A-442D-A751-74ECA52B2038}"/>
              </a:ext>
            </a:extLst>
          </p:cNvPr>
          <p:cNvSpPr>
            <a:spLocks noGrp="1"/>
          </p:cNvSpPr>
          <p:nvPr/>
        </p:nvSpPr>
        <p:spPr>
          <a:xfrm>
            <a:off x="781050" y="1647825"/>
            <a:ext cx="2571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087E8B"/>
                </a:solidFill>
              </a:defRPr>
            </a:defPPr>
          </a:lstStyle>
          <a:p>
            <a:pPr algn="l">
              <a:defRPr sz="3600" b="1">
                <a:solidFill>
                  <a:srgbClr val="087E8B"/>
                </a:solidFill>
              </a:defRPr>
            </a:pPr>
            <a:r>
              <a:rPr sz="3600" b="1">
                <a:solidFill>
                  <a:srgbClr val="087E8B"/>
                </a:solidFill>
              </a:rPr>
              <a:t>69.0%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7A23F3A-A393-4A30-91C0-3FE74754EF60}"/>
              </a:ext>
            </a:extLst>
          </p:cNvPr>
          <p:cNvSpPr>
            <a:spLocks noGrp="1"/>
          </p:cNvSpPr>
          <p:nvPr/>
        </p:nvSpPr>
        <p:spPr>
          <a:xfrm>
            <a:off x="800100" y="22193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83047"/>
                </a:solidFill>
              </a:defRPr>
            </a:defPPr>
          </a:lstStyle>
          <a:p>
            <a:pPr algn="l">
              <a:defRPr sz="1500" b="0">
                <a:solidFill>
                  <a:srgbClr val="183047"/>
                </a:solidFill>
              </a:defRPr>
            </a:pPr>
            <a:r>
              <a:rPr sz="1500" b="0">
                <a:solidFill>
                  <a:srgbClr val="183047"/>
                </a:solidFill>
              </a:rPr>
              <a:t>of claims are approved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708D62B-F52A-41BA-A0AC-827BF817DA85}"/>
              </a:ext>
            </a:extLst>
          </p:cNvPr>
          <p:cNvSpPr>
            <a:spLocks noGrp="1"/>
          </p:cNvSpPr>
          <p:nvPr/>
        </p:nvSpPr>
        <p:spPr>
          <a:xfrm>
            <a:off x="4552950" y="1647825"/>
            <a:ext cx="2381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E3A52F"/>
                </a:solidFill>
              </a:defRPr>
            </a:defPPr>
          </a:lstStyle>
          <a:p>
            <a:pPr algn="l">
              <a:defRPr sz="3600" b="1">
                <a:solidFill>
                  <a:srgbClr val="E3A52F"/>
                </a:solidFill>
              </a:defRPr>
            </a:pPr>
            <a:r>
              <a:rPr sz="3600" b="1">
                <a:solidFill>
                  <a:srgbClr val="E3A52F"/>
                </a:solidFill>
              </a:rPr>
              <a:t>14.1%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91D6944-AE2F-4377-8602-CCC1131BE55F}"/>
              </a:ext>
            </a:extLst>
          </p:cNvPr>
          <p:cNvSpPr>
            <a:spLocks noGrp="1"/>
          </p:cNvSpPr>
          <p:nvPr/>
        </p:nvSpPr>
        <p:spPr>
          <a:xfrm>
            <a:off x="4572000" y="22193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83047"/>
                </a:solidFill>
              </a:defRPr>
            </a:defPPr>
          </a:lstStyle>
          <a:p>
            <a:pPr algn="l">
              <a:defRPr sz="1500" b="0">
                <a:solidFill>
                  <a:srgbClr val="183047"/>
                </a:solidFill>
              </a:defRPr>
            </a:pPr>
            <a:r>
              <a:rPr sz="1500" b="0">
                <a:solidFill>
                  <a:srgbClr val="183047"/>
                </a:solidFill>
              </a:rPr>
              <a:t>remain pending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8AC5A84-8044-431B-8C07-0ACD183E0CD4}"/>
              </a:ext>
            </a:extLst>
          </p:cNvPr>
          <p:cNvSpPr>
            <a:spLocks noGrp="1"/>
          </p:cNvSpPr>
          <p:nvPr/>
        </p:nvSpPr>
        <p:spPr>
          <a:xfrm>
            <a:off x="8172450" y="1647825"/>
            <a:ext cx="2381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10243A"/>
                </a:solidFill>
              </a:defRPr>
            </a:defPPr>
          </a:lstStyle>
          <a:p>
            <a:pPr algn="l">
              <a:defRPr sz="3600" b="1">
                <a:solidFill>
                  <a:srgbClr val="10243A"/>
                </a:solidFill>
              </a:defRPr>
            </a:pPr>
            <a:r>
              <a:rPr sz="3600" b="1">
                <a:solidFill>
                  <a:srgbClr val="10243A"/>
                </a:solidFill>
              </a:rPr>
              <a:t>46.6%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B6E4C8D-0E5D-4371-899A-ED9C5333CB5C}"/>
              </a:ext>
            </a:extLst>
          </p:cNvPr>
          <p:cNvSpPr>
            <a:spLocks noGrp="1"/>
          </p:cNvSpPr>
          <p:nvPr/>
        </p:nvSpPr>
        <p:spPr>
          <a:xfrm>
            <a:off x="8191500" y="22193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83047"/>
                </a:solidFill>
              </a:defRPr>
            </a:defPPr>
          </a:lstStyle>
          <a:p>
            <a:pPr algn="l">
              <a:defRPr sz="1500" b="0">
                <a:solidFill>
                  <a:srgbClr val="183047"/>
                </a:solidFill>
              </a:defRPr>
            </a:pPr>
            <a:r>
              <a:rPr sz="1500" b="0">
                <a:solidFill>
                  <a:srgbClr val="183047"/>
                </a:solidFill>
              </a:rPr>
              <a:t>of claim value is inpatient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804803E-FA94-446F-860D-16753DF315C7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038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0243A"/>
                </a:solidFill>
              </a:defRPr>
            </a:defPPr>
          </a:lstStyle>
          <a:p>
            <a:pPr algn="l">
              <a:defRPr sz="2025" b="1">
                <a:solidFill>
                  <a:srgbClr val="10243A"/>
                </a:solidFill>
              </a:defRPr>
            </a:pPr>
            <a:r>
              <a:rPr sz="2025" b="1">
                <a:solidFill>
                  <a:srgbClr val="10243A"/>
                </a:solidFill>
              </a:rPr>
              <a:t>The dataset shows a clear approval majority, a pending workload worth tracking, and a concentration of claim value in inpatient care.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ADD9251-8B91-4810-8603-04FEB709EABB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183047"/>
                </a:solidFill>
              </a:defRPr>
            </a:defPPr>
          </a:lstStyle>
          <a:p>
            <a:pPr algn="l">
              <a:defRPr sz="1500" b="0">
                <a:solidFill>
                  <a:srgbClr val="183047"/>
                </a:solidFill>
              </a:defRPr>
            </a:pPr>
            <a:r>
              <a:rPr sz="1500" b="0">
                <a:solidFill>
                  <a:srgbClr val="183047"/>
                </a:solidFill>
              </a:rPr>
              <a:t>Monthly volume in Jan–Aug 2026 is 6.8% above the same period in 2025. The Power BI report makes these patterns explorable by date, status, type and insurer.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732ECB7-2C9D-4FDD-88C1-7773363BEBC5}"/>
              </a:ext>
            </a:extLst>
          </p:cNvPr>
          <p:cNvSpPr>
            <a:spLocks noGrp="1"/>
          </p:cNvSpPr>
          <p:nvPr/>
        </p:nvSpPr>
        <p:spPr>
          <a:xfrm>
            <a:off x="781050" y="57531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17487"/>
                </a:solidFill>
              </a:defRPr>
            </a:defPPr>
          </a:lstStyle>
          <a:p>
            <a:pPr algn="l">
              <a:defRPr sz="1200" b="0">
                <a:solidFill>
                  <a:srgbClr val="617487"/>
                </a:solidFill>
              </a:defRPr>
            </a:pPr>
            <a:endParaRPr sz="1200" b="0" dirty="0">
              <a:solidFill>
                <a:srgbClr val="6174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122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DocSecurity>0</DocSecurity>
  <PresentationFormat>Widescreen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DELL</cp:lastModifiedBy>
  <cp:revision>1</cp:revision>
  <dcterms:created xsi:type="dcterms:W3CDTF">2026-10-14T15:55:10Z</dcterms:created>
  <dcterms:modified xsi:type="dcterms:W3CDTF">2026-10-14T16:06:30Z</dcterms:modified>
</cp:coreProperties>
</file>